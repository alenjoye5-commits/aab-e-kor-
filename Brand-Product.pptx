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Arabic"/>
      <p:regular r:id="rId201314"/>
    </p:embeddedFont>
    <p:embeddedFont>
      <p:font typeface="Noto Sans Arabic SemiBold"/>
      <p:regular r:id="rId201315"/>
    </p:embeddedFont>
    <p:embeddedFont>
      <p:font typeface="Noto Sans Arabic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F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661120"/>
            <a:ext cx="6349841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BRAND PRODUCT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58786" y="2037655"/>
            <a:ext cx="1910905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4" name="Text 2"/>
          <p:cNvSpPr/>
          <p:nvPr/>
        </p:nvSpPr>
        <p:spPr>
          <a:xfrm>
            <a:off x="558786" y="2501205"/>
            <a:ext cx="579105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Brand</a:t>
            </a:r>
            <a:endParaRPr lang="en-US" sz="11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</a:t>
            </a:r>
            <a:endParaRPr lang="en-US" sz="1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501650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73501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Product Description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708150"/>
            <a:ext cx="5029074" cy="19494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708150"/>
            <a:ext cx="5029074" cy="194945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800600"/>
            <a:ext cx="11277318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006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BLOG POST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189" y="1219200"/>
            <a:ext cx="5486263" cy="4579144"/>
          </a:xfrm>
          <a:prstGeom prst="roundRect">
            <a:avLst>
              <a:gd name="adj" fmla="val 1631"/>
            </a:avLst>
          </a:prstGeom>
          <a:solidFill>
            <a:srgbClr val="EFF2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447800"/>
            <a:ext cx="1417304" cy="4121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07780" y="1708150"/>
            <a:ext cx="3307077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 1 (Instagram / Active Lifestyle &amp; Fitness)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407780" y="3479800"/>
            <a:ext cx="3307077" cy="1861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Caption: Post-workout refresh done right!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💦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Hydrate cleaner with AABکور. Lightweight, ultra-durable, and non-toxic. Clip it, sip it, reuse it. What’s in your gym bag today? Drop a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🌿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comments if you’re choosing zero-waste! #AAB کور #HydrateSustainably #FitnessGoals</a:t>
            </a:r>
            <a:endParaRPr lang="fa-IR" sz="1400" dirty="0"/>
          </a:p>
        </p:txBody>
      </p:sp>
      <p:sp>
        <p:nvSpPr>
          <p:cNvPr id="7" name="Shape 4"/>
          <p:cNvSpPr/>
          <p:nvPr/>
        </p:nvSpPr>
        <p:spPr>
          <a:xfrm>
            <a:off x="6248244" y="1219200"/>
            <a:ext cx="5486263" cy="4579144"/>
          </a:xfrm>
          <a:prstGeom prst="roundRect">
            <a:avLst>
              <a:gd name="adj" fmla="val 1631"/>
            </a:avLst>
          </a:prstGeom>
          <a:solidFill>
            <a:srgbClr val="EFF2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838" y="1447800"/>
            <a:ext cx="1417304" cy="4121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8836" y="1708150"/>
            <a:ext cx="3307077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 2 (LinkedIn / Corporate Eco-Focus)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8198836" y="3073400"/>
            <a:ext cx="3307077" cy="2086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Is your workspace reducing single-use plastics? Transition your daily desk hydration to AAB کور crafted from sustainable plant composites designed for modern professionals. Upgrade your daily routine while keeping plastic out of oceans.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🌿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 Modern design meets corporate sustainability.</a:t>
            </a:r>
            <a:endParaRPr lang="fa-IR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0006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BLOG POST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189" y="1244600"/>
            <a:ext cx="11277318" cy="2001341"/>
          </a:xfrm>
          <a:prstGeom prst="roundRect">
            <a:avLst>
              <a:gd name="adj" fmla="val 3731"/>
            </a:avLst>
          </a:prstGeom>
          <a:solidFill>
            <a:srgbClr val="EFF2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83" y="1371600"/>
            <a:ext cx="2804050" cy="1747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94526" y="1631950"/>
            <a:ext cx="771138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 3 (Twitter / X / Outdoor &amp; Travel)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794526" y="2184400"/>
            <a:ext cx="7711386" cy="705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Caption: Ready for the trail?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🎒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 plastic bottles don't cut it in the wild. The AAB کور Bottle hooks directly onto your pack with a built-in brass carabiner so you can stay hands-free on every summit. Small choices = big impact.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⛰️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🥾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#ZeroWaste #OutdoorGear #AAB کور</a:t>
            </a:r>
            <a:endParaRPr lang="fa-IR" sz="1400" dirty="0"/>
          </a:p>
        </p:txBody>
      </p:sp>
      <p:sp>
        <p:nvSpPr>
          <p:cNvPr id="7" name="Shape 4"/>
          <p:cNvSpPr/>
          <p:nvPr/>
        </p:nvSpPr>
        <p:spPr>
          <a:xfrm>
            <a:off x="457189" y="3398341"/>
            <a:ext cx="11277318" cy="2401391"/>
          </a:xfrm>
          <a:prstGeom prst="roundRect">
            <a:avLst>
              <a:gd name="adj" fmla="val 3110"/>
            </a:avLst>
          </a:prstGeom>
          <a:solidFill>
            <a:srgbClr val="EFF2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3525341"/>
            <a:ext cx="2804050" cy="21473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94526" y="3785691"/>
            <a:ext cx="771138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Post 4 (Facebook / Brand Aesthetics &amp; Lifestyle)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3794526" y="4744541"/>
            <a:ext cx="7711386" cy="699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Caption: Elegance meets environmental responsibility. The AAB کور Wheat-Straw Bottle isn't just a container—it’s a statement. Sleek design, tactile matte finish, and zero single-use plastic. Order yours today and receive 15% off your first order! Link in bio. </a:t>
            </a:r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✨</a:t>
            </a:r>
            <a:endParaRPr lang="fa-IR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COMPARATIVE ANALYSIS OF OUTPUTS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189" y="833735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24172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Comparative Analysis of Outputs</a:t>
            </a:r>
            <a:endParaRPr lang="en-US" sz="4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1986260"/>
          <a:ext cx="11277318" cy="914400"/>
        </p:xfrm>
        <a:graphic>
          <a:graphicData uri="http://schemas.openxmlformats.org/drawingml/2006/table">
            <a:tbl>
              <a:tblPr/>
              <a:tblGrid>
                <a:gridCol w="2029866"/>
                <a:gridCol w="2255384"/>
                <a:gridCol w="2255384"/>
                <a:gridCol w="2481002"/>
                <a:gridCol w="2255682"/>
              </a:tblGrid>
              <a:tr h="3795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Content Type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Primary Goal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Tone &amp; Style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Key Strengths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Limitations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38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Blog Post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In-depth education, SEO value, narrative building.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Thoughtful, editorial, inspiring.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High trust-building; addresses consumer skepticism; ranks on search engines over time.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Low immediate conversion; requires significant reading commitment from the user.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2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Product Description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Direct conversion, feature clarity, purchase validation.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Direct, punchy, benefit-driven.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Reduces buyer friction; scannable specs; answers buying objections instantly.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Dependent on existing traffic; doesn't generate top-of-funnel discovery alone.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63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Social Captions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Immediate attention, viral reach, community engagement.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Hook-heavy, aesthetic, conversational.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High shareability; native to where consumers discover products; immediate feedback loop.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Short shelf-life; limited space for complex messaging; highly reliant on visual assets.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CLIENT PROPOSAL DOCUMENT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189" y="833735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24172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Client Proposal Document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2246610"/>
            <a:ext cx="6131367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fa-IR" alt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Proposal: AAB کور Brand Rollout &amp; Digital Campaign Management</a:t>
            </a:r>
            <a:endParaRPr lang="fa-IR" sz="3200" dirty="0"/>
          </a:p>
        </p:txBody>
      </p:sp>
      <p:sp>
        <p:nvSpPr>
          <p:cNvPr id="6" name="Text 4"/>
          <p:cNvSpPr/>
          <p:nvPr/>
        </p:nvSpPr>
        <p:spPr>
          <a:xfrm>
            <a:off x="457189" y="3611860"/>
            <a:ext cx="6131367" cy="451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PREPARED FOR: POTENTIAL RETAINERS / DISTRIBUTION PARTNERS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PREPARED BY: BRAND &amp; DIGITAL MARKETING AGENCY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045645" y="1986260"/>
            <a:ext cx="4688862" cy="2349202"/>
          </a:xfrm>
          <a:prstGeom prst="roundRect">
            <a:avLst>
              <a:gd name="adj" fmla="val 3179"/>
            </a:avLst>
          </a:prstGeom>
          <a:solidFill>
            <a:srgbClr val="666666"/>
          </a:solidFill>
          <a:ln/>
        </p:spPr>
      </p:sp>
      <p:sp>
        <p:nvSpPr>
          <p:cNvPr id="8" name="Text 6"/>
          <p:cNvSpPr/>
          <p:nvPr/>
        </p:nvSpPr>
        <p:spPr>
          <a:xfrm>
            <a:off x="7350437" y="2322810"/>
            <a:ext cx="4079277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50437" y="2875260"/>
            <a:ext cx="4079277" cy="11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fa-IR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AAB کور is poised to capture the sustainable lifestyle segment with premium wheat-straw reusable bottles. This proposal covers initial digital branding, marketing rollout, content production, and distribution collateral.</a:t>
            </a:r>
            <a:endParaRPr lang="fa-IR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SCOPE OF WORK &amp; DELIVERABLES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189" y="833735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24172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Scope of Work &amp; Deliverables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1986260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2D3FF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189" y="2235200"/>
            <a:ext cx="5410065" cy="19050"/>
          </a:xfrm>
          <a:prstGeom prst="rect">
            <a:avLst/>
          </a:prstGeom>
          <a:solidFill>
            <a:srgbClr val="C2D3FF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2378373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Visual Identity &amp; Packaging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2741910"/>
            <a:ext cx="541006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Logo finalize, surface print proofs, and sustainable box packaging layout.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2" y="1986260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2D3FF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2" y="2235200"/>
            <a:ext cx="5410065" cy="19050"/>
          </a:xfrm>
          <a:prstGeom prst="rect">
            <a:avLst/>
          </a:prstGeom>
          <a:solidFill>
            <a:srgbClr val="C2D3FF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2378373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Social Media Content Creation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442" y="2741910"/>
            <a:ext cx="541006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 posts/month across LinkedIn, Instagram, Facebook, and Twitter.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189" y="3661271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2D3FF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189" y="3910211"/>
            <a:ext cx="5410065" cy="19050"/>
          </a:xfrm>
          <a:prstGeom prst="rect">
            <a:avLst/>
          </a:prstGeom>
          <a:solidFill>
            <a:srgbClr val="C2D3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189" y="4053384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E-Commerce Conversion Optimization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189" y="4416921"/>
            <a:ext cx="541006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High-converting product pages, email marketing automation (Welcome &amp; Abandoned Cart series).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24442" y="3661271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C2D3FF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24442" y="3910211"/>
            <a:ext cx="5410065" cy="19050"/>
          </a:xfrm>
          <a:prstGeom prst="rect">
            <a:avLst/>
          </a:prstGeom>
          <a:solidFill>
            <a:srgbClr val="C2D3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24442" y="4053384"/>
            <a:ext cx="541006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Influencer Outreach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24442" y="4416921"/>
            <a:ext cx="5410065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Tier 1 micro-influencer gifting campaign (Eco &amp; Fitness niches).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TIMELINE &amp; IMPLEMENTATION SCHEDULE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189" y="833735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C2D3FF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1241723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Timeline &amp; Implementation Schedule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189" y="1986260"/>
            <a:ext cx="311142" cy="311150"/>
          </a:xfrm>
          <a:prstGeom prst="ellipse">
            <a:avLst/>
          </a:prstGeom>
          <a:solidFill>
            <a:srgbClr val="C2D3FF"/>
          </a:solidFill>
          <a:ln w="6350">
            <a:solidFill>
              <a:srgbClr val="727E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0964" y="2052935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2387898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2751435"/>
            <a:ext cx="247643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1 — Brand Assets &amp; Packaging Finalization — Week 1–2 — Day 14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90815" y="1986260"/>
            <a:ext cx="311142" cy="311150"/>
          </a:xfrm>
          <a:prstGeom prst="ellipse">
            <a:avLst/>
          </a:prstGeom>
          <a:solidFill>
            <a:srgbClr val="C2D3FF"/>
          </a:solidFill>
          <a:ln w="6350">
            <a:solidFill>
              <a:srgbClr val="727E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590" y="2052935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90815" y="2387898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90815" y="2751435"/>
            <a:ext cx="2476438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2 — E-Commerce Landing Page &amp; Copy Optimization — Week 2–3 — Day 21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2" y="1986260"/>
            <a:ext cx="311142" cy="311150"/>
          </a:xfrm>
          <a:prstGeom prst="ellipse">
            <a:avLst/>
          </a:prstGeom>
          <a:solidFill>
            <a:srgbClr val="C2D3FF"/>
          </a:solidFill>
          <a:ln w="6350">
            <a:solidFill>
              <a:srgbClr val="727E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8217" y="2052935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4442" y="2387898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24442" y="2751435"/>
            <a:ext cx="2476438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3 — Content Production &amp; Ad Creative Testing — Week 3–4 — Day 28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58068" y="1986260"/>
            <a:ext cx="311142" cy="311150"/>
          </a:xfrm>
          <a:prstGeom prst="ellipse">
            <a:avLst/>
          </a:prstGeom>
          <a:solidFill>
            <a:srgbClr val="C2D3FF"/>
          </a:solidFill>
          <a:ln w="6350">
            <a:solidFill>
              <a:srgbClr val="727E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11844" y="2052935"/>
            <a:ext cx="813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to Sans Arabic SemiBold" pitchFamily="34" charset="0"/>
                <a:ea typeface="Noto Sans Arabic SemiBold" pitchFamily="34" charset="-122"/>
                <a:cs typeface="Noto Sans Arabic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8068" y="2387898"/>
            <a:ext cx="247643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58068" y="2751435"/>
            <a:ext cx="2476438" cy="924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Phase 4 — Omnichannel Launch &amp; Campaign Execution — Week 5+ — Ongoing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297980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ESTIMATED COST BREAKDOWN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457189" y="1674515"/>
            <a:ext cx="3721503" cy="19050"/>
          </a:xfrm>
          <a:prstGeom prst="roundRect">
            <a:avLst>
              <a:gd name="adj" fmla="val 49999"/>
            </a:avLst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457189" y="2082502"/>
            <a:ext cx="1127731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Estimated Cost Breakdown</a:t>
            </a:r>
            <a:endParaRPr lang="en-US" sz="4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827040"/>
          <a:ext cx="11277318" cy="914400"/>
        </p:xfrm>
        <a:graphic>
          <a:graphicData uri="http://schemas.openxmlformats.org/drawingml/2006/table">
            <a:tbl>
              <a:tblPr/>
              <a:tblGrid>
                <a:gridCol w="6766351"/>
                <a:gridCol w="4510967"/>
              </a:tblGrid>
              <a:tr h="3795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Estimated Cost Breakdown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Amount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Brand Identity &amp; Packaging Design — Final vector assets, style guidelines, packaging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$1,200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Content Creation &amp; Copywriting — 16 Visuals + Short/Long Copy + Blog series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$1,500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0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Ad Campaign Management — Meta &amp; Google Ads setup + optimization (1 Month)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$1,000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95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Influencer Seeding &amp; PR — Management for 20 eco-influencer giftings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$800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3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Total Estimated Investment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Arabic" pitchFamily="34" charset="0"/>
                          <a:ea typeface="Noto Sans Arabic" pitchFamily="34" charset="-122"/>
                          <a:cs typeface="Noto Sans Arabic" pitchFamily="34" charset="-120"/>
                        </a:rPr>
                        <a:t>$4,500</a:t>
                      </a:r>
                      <a:endParaRPr lang="en-US" sz="1400" dirty="0">
                        <a:latin typeface="Noto Sans Arabic" charset="0"/>
                        <a:ea typeface="Noto Sans Arabic" charset="0"/>
                        <a:cs typeface="Noto Sans Arabic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27E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FF2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116"/>
            <a:ext cx="11734506" cy="1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50" spc="51" kern="100" dirty="0">
                <a:solidFill>
                  <a:srgbClr val="C2D3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PROFESSIONAL BIDDING EMAIL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189" y="667210"/>
            <a:ext cx="11277318" cy="498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Professional Bidding Email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57189" y="1256158"/>
            <a:ext cx="11734506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fa-IR" altLang="en-US" sz="1150" dirty="0">
                <a:solidFill>
                  <a:srgbClr val="EB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Bid Submission: Full-Scale Marketing &amp; Brand Campaign for AAB کور Bottle</a:t>
            </a:r>
            <a:endParaRPr lang="fa-IR" sz="1150" dirty="0"/>
          </a:p>
        </p:txBody>
      </p:sp>
      <p:sp>
        <p:nvSpPr>
          <p:cNvPr id="5" name="Text 3"/>
          <p:cNvSpPr/>
          <p:nvPr/>
        </p:nvSpPr>
        <p:spPr>
          <a:xfrm>
            <a:off x="457189" y="3886200"/>
            <a:ext cx="5181470" cy="158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Dear [Client Name / Selection Committee],</a:t>
            </a:r>
            <a:endParaRPr lang="en-US" sz="1150" dirty="0"/>
          </a:p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I hope this email finds you well.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fa-IR" altLang="en-US" sz="1150" dirty="0">
                <a:solidFill>
                  <a:srgbClr val="EB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excited to submit our formal proposal for the brand rollout and digital marketing campaign for the AAB کور Eco-Friendly Bottle. Having analyzed your product’s unique selling proposition specifically its plant-composite construction, minimalist aesthetics, and integrated portability features we have developed a multi-channel content and growth strategy tailored for rapid customer acquisition.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189" y="5694471"/>
            <a:ext cx="518147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What We Have Prepared for Your Review: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189" y="6460479"/>
            <a:ext cx="5181470" cy="343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98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Brand Storytelling &amp; Copy: A complete blog series, conversion-focused product descriptions, and tailored social media captions.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53036" y="3886200"/>
            <a:ext cx="5181470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98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Visual Campaign Strategy: High-impact lifestyle and product imagery designed for Instagram, LinkedIn, Facebook, and Twitter engagement.</a:t>
            </a:r>
            <a:endParaRPr lang="en-US" sz="1150" dirty="0"/>
          </a:p>
          <a:p>
            <a:pPr algn="l" marL="233680" indent="-233680">
              <a:lnSpc>
                <a:spcPct val="98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Comprehensive Proposal &amp; Schedule: A detailed scope of work outlining milestones, cost structures, and deliverables for seamless execution.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53036" y="4708426"/>
            <a:ext cx="5181470" cy="2074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Our team specializes in scaling eco-conscious direct-to-consumer brands through high-converting creative assets and performance marketing. We are confident this proposal aligns perfectly with AAB's growth objectives.</a:t>
            </a:r>
            <a:endParaRPr lang="en-US" sz="1150" dirty="0"/>
          </a:p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Please find the proposal attached, and feel free to schedule a call via the link below to discuss the next steps.</a:t>
            </a:r>
            <a:endParaRPr lang="en-US" sz="1150" dirty="0"/>
          </a:p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Best regards,</a:t>
            </a:r>
            <a:endParaRPr lang="en-US" sz="1150" dirty="0"/>
          </a:p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[Your Name / Title]</a:t>
            </a:r>
            <a:endParaRPr lang="en-US" sz="1150" dirty="0"/>
          </a:p>
          <a:p>
            <a:pPr algn="l" indent="0" marL="0">
              <a:lnSpc>
                <a:spcPct val="98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[Your Agency / Firm Name]</a:t>
            </a:r>
            <a:endParaRPr lang="en-US" sz="11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[Contact Information / Portfolio Link]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2026-10-11T18:23:00Z</dcterms:created>
  <dcterms:modified xsi:type="dcterms:W3CDTF">2026-10-11T18:23:00Z</dcterms:modified>
</cp:coreProperties>
</file>